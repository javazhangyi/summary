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70" r:id="rId3"/>
    <p:sldId id="260" r:id="rId4"/>
    <p:sldId id="274" r:id="rId5"/>
    <p:sldId id="282" r:id="rId6"/>
    <p:sldId id="280" r:id="rId7"/>
    <p:sldId id="281" r:id="rId8"/>
    <p:sldId id="277" r:id="rId9"/>
    <p:sldId id="278" r:id="rId10"/>
    <p:sldId id="273" r:id="rId11"/>
    <p:sldId id="258" r:id="rId12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815" autoAdjust="0"/>
  </p:normalViewPr>
  <p:slideViewPr>
    <p:cSldViewPr>
      <p:cViewPr varScale="1">
        <p:scale>
          <a:sx n="122" d="100"/>
          <a:sy n="122" d="100"/>
        </p:scale>
        <p:origin x="128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EFDDF7-DAE5-4133-B5AE-9E6974F96132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D4210A-C012-4072-958B-8610C7235B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678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D4210A-C012-4072-958B-8610C7235BA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280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、项目编码期：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1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）采用</a:t>
            </a: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java-agent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，使其无侵入（为什么采用</a:t>
            </a: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java-agent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	</a:t>
            </a:r>
            <a:r>
              <a:rPr lang="en-US" altLang="zh-CN" sz="1200" dirty="0" smtClean="0">
                <a:latin typeface="+mn-lt"/>
                <a:ea typeface="+mn-ea"/>
              </a:rPr>
              <a:t>1</a:t>
            </a:r>
            <a:r>
              <a:rPr lang="zh-CN" altLang="en-US" sz="1200" dirty="0" smtClean="0">
                <a:latin typeface="+mn-lt"/>
                <a:ea typeface="+mn-ea"/>
              </a:rPr>
              <a:t>）</a:t>
            </a:r>
            <a:r>
              <a:rPr lang="zh-CN" altLang="en-US" dirty="0" smtClean="0"/>
              <a:t>字节码修改，是</a:t>
            </a:r>
            <a:r>
              <a:rPr lang="en-US" altLang="zh-CN" dirty="0" err="1" smtClean="0"/>
              <a:t>jvm</a:t>
            </a:r>
            <a:r>
              <a:rPr lang="en-US" altLang="zh-CN" dirty="0" smtClean="0"/>
              <a:t> </a:t>
            </a:r>
            <a:r>
              <a:rPr lang="zh-CN" altLang="en-US" dirty="0" smtClean="0"/>
              <a:t>提供的</a:t>
            </a:r>
            <a:r>
              <a:rPr lang="en-US" altLang="zh-CN" dirty="0" err="1" smtClean="0"/>
              <a:t>aop</a:t>
            </a:r>
            <a:r>
              <a:rPr lang="zh-CN" altLang="en-US" dirty="0" smtClean="0"/>
              <a:t>，没有依赖要求</a:t>
            </a:r>
          </a:p>
          <a:p>
            <a:pPr lvl="1"/>
            <a:r>
              <a:rPr lang="en-US" altLang="zh-CN" dirty="0" smtClean="0"/>
              <a:t>		2</a:t>
            </a:r>
            <a:r>
              <a:rPr lang="zh-CN" altLang="en-US" dirty="0" smtClean="0"/>
              <a:t>）</a:t>
            </a:r>
            <a:r>
              <a:rPr lang="en-US" altLang="zh-CN" dirty="0" err="1" smtClean="0"/>
              <a:t>aop</a:t>
            </a:r>
            <a:r>
              <a:rPr lang="en-US" altLang="zh-CN" dirty="0" smtClean="0"/>
              <a:t> </a:t>
            </a:r>
            <a:r>
              <a:rPr lang="zh-CN" altLang="en-US" dirty="0" smtClean="0"/>
              <a:t>切面和字节码属该修改技术相比，他的切面维度，没有字节码展开方便</a:t>
            </a:r>
            <a:endParaRPr lang="en-US" altLang="zh-CN" dirty="0" smtClean="0"/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2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）通过配置文件，对公共代码日志收集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	1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）提供类上的注解（</a:t>
            </a: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@Controller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	2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）方法上的注解（</a:t>
            </a: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@</a:t>
            </a:r>
            <a:r>
              <a:rPr lang="en-US" altLang="zh-CN" sz="1200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RequestMap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	3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）正则收集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	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对公共代码日志收集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、项目运行期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1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）结构化日志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	1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request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维度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	2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method 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维度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	3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）项目维度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	4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）其他信息维度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	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通过这些维度，即可在</a:t>
            </a: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elk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快速过滤你想要的信息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2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）日志等级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	1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）不同的人，不同的业务，关心的数据是不一样的，通过日志等级划分，将异常报警信息推动他真正想要关心的人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D4210A-C012-4072-958B-8610C7235BA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9359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、项目编码期：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1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）采用</a:t>
            </a: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java-agent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，使其无侵入（为什么采用</a:t>
            </a: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java-agent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	</a:t>
            </a:r>
            <a:r>
              <a:rPr lang="en-US" altLang="zh-CN" sz="1200" dirty="0" smtClean="0">
                <a:latin typeface="+mn-lt"/>
                <a:ea typeface="+mn-ea"/>
              </a:rPr>
              <a:t>1</a:t>
            </a:r>
            <a:r>
              <a:rPr lang="zh-CN" altLang="en-US" sz="1200" dirty="0" smtClean="0">
                <a:latin typeface="+mn-lt"/>
                <a:ea typeface="+mn-ea"/>
              </a:rPr>
              <a:t>）</a:t>
            </a:r>
            <a:r>
              <a:rPr lang="zh-CN" altLang="en-US" dirty="0" smtClean="0"/>
              <a:t>字节码修改，是</a:t>
            </a:r>
            <a:r>
              <a:rPr lang="en-US" altLang="zh-CN" dirty="0" err="1" smtClean="0"/>
              <a:t>jvm</a:t>
            </a:r>
            <a:r>
              <a:rPr lang="en-US" altLang="zh-CN" dirty="0" smtClean="0"/>
              <a:t> </a:t>
            </a:r>
            <a:r>
              <a:rPr lang="zh-CN" altLang="en-US" dirty="0" smtClean="0"/>
              <a:t>提供的</a:t>
            </a:r>
            <a:r>
              <a:rPr lang="en-US" altLang="zh-CN" dirty="0" err="1" smtClean="0"/>
              <a:t>aop</a:t>
            </a:r>
            <a:r>
              <a:rPr lang="zh-CN" altLang="en-US" dirty="0" smtClean="0"/>
              <a:t>，没有依赖要求</a:t>
            </a:r>
          </a:p>
          <a:p>
            <a:pPr lvl="1"/>
            <a:r>
              <a:rPr lang="en-US" altLang="zh-CN" dirty="0" smtClean="0"/>
              <a:t>		2</a:t>
            </a:r>
            <a:r>
              <a:rPr lang="zh-CN" altLang="en-US" dirty="0" smtClean="0"/>
              <a:t>）</a:t>
            </a:r>
            <a:r>
              <a:rPr lang="en-US" altLang="zh-CN" dirty="0" err="1" smtClean="0"/>
              <a:t>aop</a:t>
            </a:r>
            <a:r>
              <a:rPr lang="en-US" altLang="zh-CN" dirty="0" smtClean="0"/>
              <a:t> </a:t>
            </a:r>
            <a:r>
              <a:rPr lang="zh-CN" altLang="en-US" dirty="0" smtClean="0"/>
              <a:t>切面和字节码属该修改技术相比，他的切面维度，没有字节码展开方便</a:t>
            </a:r>
            <a:endParaRPr lang="en-US" altLang="zh-CN" dirty="0" smtClean="0"/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2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）通过配置文件，对公共代码日志收集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	1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）提供类上的注解（</a:t>
            </a: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@Controller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	2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）方法上的注解（</a:t>
            </a: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@</a:t>
            </a:r>
            <a:r>
              <a:rPr lang="en-US" altLang="zh-CN" sz="1200" dirty="0" err="1" smtClean="0">
                <a:latin typeface="楷体" panose="02010609060101010101" pitchFamily="49" charset="-122"/>
                <a:ea typeface="楷体" panose="02010609060101010101" pitchFamily="49" charset="-122"/>
              </a:rPr>
              <a:t>RequestMap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	3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）正则收集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	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对公共代码日志收集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、项目运行期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1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）结构化日志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	1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request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维度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	2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method 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维度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	3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）项目维度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	4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）其他信息维度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	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通过这些维度，即可在</a:t>
            </a: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elk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快速过滤你想要的信息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2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）日志等级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	1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）不同的人，不同的业务，关心的数据是不一样的，通过日志等级划分，将异常报警信息推动他真正想要关心的人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D4210A-C012-4072-958B-8610C7235BA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879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D4210A-C012-4072-958B-8610C7235BA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903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D4210A-C012-4072-958B-8610C7235BA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460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D4210A-C012-4072-958B-8610C7235BA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2827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1F99-555A-4E70-BF70-8E07EE828744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12134-DAEC-4023-8BE7-308F38FDEC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437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1F99-555A-4E70-BF70-8E07EE828744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12134-DAEC-4023-8BE7-308F38FDEC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184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1F99-555A-4E70-BF70-8E07EE828744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12134-DAEC-4023-8BE7-308F38FDEC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79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1F99-555A-4E70-BF70-8E07EE828744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12134-DAEC-4023-8BE7-308F38FDEC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283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1F99-555A-4E70-BF70-8E07EE828744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12134-DAEC-4023-8BE7-308F38FDEC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652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1F99-555A-4E70-BF70-8E07EE828744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12134-DAEC-4023-8BE7-308F38FDEC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620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1F99-555A-4E70-BF70-8E07EE828744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12134-DAEC-4023-8BE7-308F38FDEC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2312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1F99-555A-4E70-BF70-8E07EE828744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12134-DAEC-4023-8BE7-308F38FDEC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391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1F99-555A-4E70-BF70-8E07EE828744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12134-DAEC-4023-8BE7-308F38FDEC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532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1F99-555A-4E70-BF70-8E07EE828744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12134-DAEC-4023-8BE7-308F38FDEC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68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91F99-555A-4E70-BF70-8E07EE828744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12134-DAEC-4023-8BE7-308F38FDEC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024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91F99-555A-4E70-BF70-8E07EE828744}" type="datetimeFigureOut">
              <a:rPr lang="zh-CN" altLang="en-US" smtClean="0"/>
              <a:t>2021/3/3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12134-DAEC-4023-8BE7-308F38FDEC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346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img/billing-hook.png" TargetMode="External"/><Relationship Id="rId7" Type="http://schemas.openxmlformats.org/officeDocument/2006/relationships/hyperlink" Target="img/&#26085;&#24535;&#25253;&#35686;.pn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img/&#26085;&#24535;&#32467;&#26500;.png" TargetMode="External"/><Relationship Id="rId5" Type="http://schemas.openxmlformats.org/officeDocument/2006/relationships/hyperlink" Target="img/old-log.png" TargetMode="External"/><Relationship Id="rId4" Type="http://schemas.openxmlformats.org/officeDocument/2006/relationships/hyperlink" Target="img/&#25193;&#23637;.png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img/log-agent-core.pn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img/old-log.png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iki.cy.com/display/javaHome/log-agent-cor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img/&#26085;&#24535;&#32467;&#26500;.pn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hyperlink" Target="img/&#26085;&#24535;&#24322;&#24120;&#35760;&#24405;.png" TargetMode="External"/><Relationship Id="rId5" Type="http://schemas.openxmlformats.org/officeDocument/2006/relationships/hyperlink" Target="img/wiki&#25991;&#26723;.png" TargetMode="External"/><Relationship Id="rId4" Type="http://schemas.openxmlformats.org/officeDocument/2006/relationships/hyperlink" Target="img/old-log.png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img/&#30693;&#35782;&#20998;&#20139;.pn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915816" y="1851670"/>
            <a:ext cx="56521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平台开发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述职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材料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  <a:p>
            <a:pPr algn="r"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申报</a:t>
            </a:r>
            <a:r>
              <a:rPr lang="en-US" altLang="zh-CN" sz="2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p5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职级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  <a:p>
            <a:pPr algn="r"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平台产品部</a:t>
            </a: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2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初级</a:t>
            </a:r>
            <a:r>
              <a:rPr lang="en-US" altLang="zh-CN" sz="2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java</a:t>
            </a:r>
            <a:r>
              <a:rPr lang="zh-CN" altLang="en-US" sz="2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开发</a:t>
            </a: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24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张</a:t>
            </a:r>
            <a:r>
              <a:rPr lang="zh-CN" altLang="en-US" sz="2400" b="1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益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4431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3608" y="915566"/>
            <a:ext cx="6624736" cy="3394472"/>
          </a:xfrm>
        </p:spPr>
        <p:txBody>
          <a:bodyPr anchor="ctr">
            <a:normAutofit/>
          </a:bodyPr>
          <a:lstStyle/>
          <a:p>
            <a:pPr marL="457200" indent="-457200" eaLnBrk="0" hangingPunct="0">
              <a:lnSpc>
                <a:spcPct val="150000"/>
              </a:lnSpc>
              <a:spcBef>
                <a:spcPts val="0"/>
              </a:spcBef>
              <a:buSzPct val="90000"/>
              <a:buBlip>
                <a:blip r:embed="rId2"/>
              </a:buBlip>
              <a:defRPr/>
            </a:pPr>
            <a:r>
              <a:rPr kumimoji="1" lang="zh-CN" altLang="en-US" sz="2000" b="1" kern="0" dirty="0" smtClean="0">
                <a:latin typeface="微软雅黑"/>
                <a:ea typeface="微软雅黑"/>
                <a:cs typeface="微软雅黑" charset="0"/>
              </a:rPr>
              <a:t>个人基本情况</a:t>
            </a:r>
            <a:endParaRPr kumimoji="1" lang="en-US" altLang="zh-CN" sz="2000" b="1" kern="0" dirty="0" smtClean="0">
              <a:latin typeface="微软雅黑"/>
              <a:ea typeface="微软雅黑"/>
              <a:cs typeface="微软雅黑" charset="0"/>
            </a:endParaRPr>
          </a:p>
          <a:p>
            <a:pPr marL="457200" indent="-457200" eaLnBrk="0" hangingPunct="0">
              <a:lnSpc>
                <a:spcPct val="150000"/>
              </a:lnSpc>
              <a:spcBef>
                <a:spcPts val="0"/>
              </a:spcBef>
              <a:buSzPct val="90000"/>
              <a:buBlip>
                <a:blip r:embed="rId2"/>
              </a:buBlip>
              <a:defRPr/>
            </a:pPr>
            <a:r>
              <a:rPr kumimoji="1" lang="zh-CN" altLang="en-US" sz="2000" b="1" kern="0" dirty="0">
                <a:latin typeface="微软雅黑"/>
                <a:ea typeface="微软雅黑"/>
                <a:cs typeface="微软雅黑" charset="0"/>
              </a:rPr>
              <a:t>主要工作</a:t>
            </a:r>
            <a:r>
              <a:rPr kumimoji="1" lang="zh-CN" altLang="en-US" sz="2000" b="1" kern="0" dirty="0" smtClean="0">
                <a:latin typeface="微软雅黑"/>
                <a:ea typeface="微软雅黑"/>
                <a:cs typeface="微软雅黑" charset="0"/>
              </a:rPr>
              <a:t>成果及承担的角色</a:t>
            </a:r>
            <a:endParaRPr kumimoji="1" lang="en-US" altLang="zh-CN" sz="2000" b="1" kern="0" dirty="0">
              <a:latin typeface="微软雅黑"/>
              <a:ea typeface="微软雅黑"/>
              <a:cs typeface="微软雅黑" charset="0"/>
            </a:endParaRPr>
          </a:p>
          <a:p>
            <a:pPr marL="457200" indent="-457200" eaLnBrk="0" hangingPunct="0">
              <a:lnSpc>
                <a:spcPct val="150000"/>
              </a:lnSpc>
              <a:spcBef>
                <a:spcPts val="0"/>
              </a:spcBef>
              <a:buSzPct val="90000"/>
              <a:buBlip>
                <a:blip r:embed="rId2"/>
              </a:buBlip>
              <a:defRPr/>
            </a:pPr>
            <a:r>
              <a:rPr kumimoji="1" lang="zh-CN" altLang="en-US" sz="2000" b="1" kern="0" dirty="0" smtClean="0">
                <a:solidFill>
                  <a:srgbClr val="000000"/>
                </a:solidFill>
                <a:latin typeface="微软雅黑"/>
                <a:ea typeface="微软雅黑"/>
                <a:cs typeface="微软雅黑" charset="0"/>
              </a:rPr>
              <a:t>学习</a:t>
            </a:r>
            <a:r>
              <a:rPr kumimoji="1" lang="zh-CN" altLang="en-US" sz="2000" b="1" kern="0" dirty="0">
                <a:solidFill>
                  <a:srgbClr val="000000"/>
                </a:solidFill>
                <a:latin typeface="微软雅黑"/>
                <a:ea typeface="微软雅黑"/>
                <a:cs typeface="微软雅黑" charset="0"/>
              </a:rPr>
              <a:t>成长</a:t>
            </a:r>
            <a:r>
              <a:rPr kumimoji="1" lang="en-US" altLang="zh-CN" sz="2000" b="1" kern="0" dirty="0" smtClean="0">
                <a:solidFill>
                  <a:srgbClr val="000000"/>
                </a:solidFill>
                <a:latin typeface="微软雅黑"/>
                <a:ea typeface="微软雅黑"/>
                <a:cs typeface="微软雅黑" charset="0"/>
              </a:rPr>
              <a:t>&amp;</a:t>
            </a:r>
            <a:r>
              <a:rPr kumimoji="1" lang="zh-CN" altLang="en-US" sz="2000" b="1" kern="0" dirty="0">
                <a:solidFill>
                  <a:srgbClr val="000000"/>
                </a:solidFill>
                <a:latin typeface="微软雅黑"/>
                <a:ea typeface="微软雅黑"/>
                <a:cs typeface="微软雅黑" charset="0"/>
              </a:rPr>
              <a:t>工作</a:t>
            </a:r>
            <a:r>
              <a:rPr kumimoji="1" lang="zh-CN" altLang="en-US" sz="2000" b="1" kern="0" dirty="0" smtClean="0">
                <a:solidFill>
                  <a:srgbClr val="000000"/>
                </a:solidFill>
                <a:latin typeface="微软雅黑"/>
                <a:ea typeface="微软雅黑"/>
                <a:cs typeface="微软雅黑" charset="0"/>
              </a:rPr>
              <a:t>思考</a:t>
            </a:r>
            <a:endParaRPr kumimoji="1" lang="en-US" altLang="zh-CN" sz="2000" b="1" kern="0" dirty="0" smtClean="0">
              <a:solidFill>
                <a:srgbClr val="000000"/>
              </a:solidFill>
              <a:latin typeface="微软雅黑"/>
              <a:ea typeface="微软雅黑"/>
              <a:cs typeface="微软雅黑" charset="0"/>
            </a:endParaRPr>
          </a:p>
          <a:p>
            <a:pPr marL="457200" indent="-457200" eaLnBrk="0" hangingPunct="0">
              <a:lnSpc>
                <a:spcPct val="150000"/>
              </a:lnSpc>
              <a:spcBef>
                <a:spcPts val="0"/>
              </a:spcBef>
              <a:buSzPct val="90000"/>
              <a:buBlip>
                <a:blip r:embed="rId2"/>
              </a:buBlip>
              <a:defRPr/>
            </a:pPr>
            <a:r>
              <a:rPr kumimoji="1" lang="zh-CN" altLang="en-US" sz="2000" b="1" kern="0" dirty="0">
                <a:solidFill>
                  <a:srgbClr val="000000"/>
                </a:solidFill>
                <a:latin typeface="微软雅黑"/>
                <a:ea typeface="微软雅黑"/>
                <a:cs typeface="微软雅黑" charset="0"/>
              </a:rPr>
              <a:t>胜任力自我</a:t>
            </a:r>
            <a:r>
              <a:rPr kumimoji="1" lang="zh-CN" altLang="en-US" sz="2000" b="1" kern="0" dirty="0" smtClean="0">
                <a:solidFill>
                  <a:srgbClr val="000000"/>
                </a:solidFill>
                <a:latin typeface="微软雅黑"/>
                <a:ea typeface="微软雅黑"/>
                <a:cs typeface="微软雅黑" charset="0"/>
              </a:rPr>
              <a:t>评估（举证）</a:t>
            </a:r>
            <a:endParaRPr kumimoji="1" lang="en-US" altLang="zh-CN" sz="2000" b="1" kern="0" dirty="0" smtClean="0">
              <a:solidFill>
                <a:srgbClr val="000000"/>
              </a:solidFill>
              <a:latin typeface="微软雅黑"/>
              <a:ea typeface="微软雅黑"/>
              <a:cs typeface="微软雅黑" charset="0"/>
            </a:endParaRPr>
          </a:p>
          <a:p>
            <a:pPr marL="457200" indent="-457200" eaLnBrk="0" hangingPunct="0">
              <a:lnSpc>
                <a:spcPct val="150000"/>
              </a:lnSpc>
              <a:spcBef>
                <a:spcPts val="0"/>
              </a:spcBef>
              <a:buSzPct val="90000"/>
              <a:buBlip>
                <a:blip r:embed="rId2"/>
              </a:buBlip>
              <a:defRPr/>
            </a:pPr>
            <a:r>
              <a:rPr kumimoji="1" lang="en-US" altLang="zh-CN" sz="2000" b="1" kern="0" dirty="0" smtClean="0">
                <a:solidFill>
                  <a:srgbClr val="000000"/>
                </a:solidFill>
                <a:latin typeface="微软雅黑"/>
                <a:ea typeface="微软雅黑"/>
                <a:cs typeface="微软雅黑" charset="0"/>
              </a:rPr>
              <a:t>Q&amp;A</a:t>
            </a:r>
            <a:endParaRPr kumimoji="1" lang="en-US" altLang="zh-CN" sz="2000" b="1" kern="0" dirty="0">
              <a:solidFill>
                <a:srgbClr val="000000"/>
              </a:solidFill>
              <a:latin typeface="微软雅黑"/>
              <a:ea typeface="微软雅黑"/>
              <a:cs typeface="微软雅黑" charset="0"/>
            </a:endParaRPr>
          </a:p>
          <a:p>
            <a:pPr marL="0" indent="0">
              <a:buNone/>
            </a:pP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729963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16024" y="123478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个人基本情况</a:t>
            </a:r>
            <a:endParaRPr lang="zh-CN" altLang="en-US" sz="2400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627534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949556"/>
              </p:ext>
            </p:extLst>
          </p:nvPr>
        </p:nvGraphicFramePr>
        <p:xfrm>
          <a:off x="467544" y="915566"/>
          <a:ext cx="8144680" cy="3036960"/>
        </p:xfrm>
        <a:graphic>
          <a:graphicData uri="http://schemas.openxmlformats.org/drawingml/2006/table">
            <a:tbl>
              <a:tblPr/>
              <a:tblGrid>
                <a:gridCol w="936104"/>
                <a:gridCol w="576064"/>
                <a:gridCol w="576064"/>
                <a:gridCol w="936104"/>
                <a:gridCol w="1044114"/>
                <a:gridCol w="468054"/>
                <a:gridCol w="655852"/>
                <a:gridCol w="1008112"/>
                <a:gridCol w="1008112"/>
                <a:gridCol w="936100"/>
              </a:tblGrid>
              <a:tr h="377510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基本信息</a:t>
                      </a:r>
                    </a:p>
                  </a:txBody>
                  <a:tcPr marL="6328" marR="6328" marT="63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8172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姓名</a:t>
                      </a:r>
                    </a:p>
                  </a:txBody>
                  <a:tcPr marL="6328" marR="6328" marT="63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张益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六位工号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013439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部门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  <a:r>
                        <a:rPr lang="zh-CN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平台产品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岗位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Java</a:t>
                      </a:r>
                      <a:r>
                        <a:rPr lang="zh-CN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开发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72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入司时间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328" marR="6328" marT="63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2018/07/30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当前职级</a:t>
                      </a: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  <a:r>
                        <a:rPr lang="en-US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p4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申报职级</a:t>
                      </a: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p5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申报日期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  <a:r>
                        <a:rPr lang="en-US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2021/02/27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721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2020</a:t>
                      </a:r>
                      <a:r>
                        <a:rPr lang="zh-CN" alt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上半年绩效</a:t>
                      </a:r>
                    </a:p>
                  </a:txBody>
                  <a:tcPr marL="6328" marR="6328" marT="63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2020</a:t>
                      </a:r>
                      <a:r>
                        <a:rPr lang="zh-CN" alt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下半年绩效</a:t>
                      </a: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B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2020</a:t>
                      </a:r>
                      <a:r>
                        <a:rPr lang="zh-CN" alt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上半年价值观</a:t>
                      </a: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良好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2020</a:t>
                      </a:r>
                      <a:r>
                        <a:rPr lang="zh-CN" alt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下半年价值观</a:t>
                      </a: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良好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　</a:t>
                      </a: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510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主要工作经历（不限于当前公司）</a:t>
                      </a:r>
                    </a:p>
                  </a:txBody>
                  <a:tcPr marL="6328" marR="6328" marT="63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8172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起止时间（年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/</a:t>
                      </a: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月）</a:t>
                      </a:r>
                    </a:p>
                  </a:txBody>
                  <a:tcPr marL="6328" marR="6328" marT="63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所在单位</a:t>
                      </a: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最终职位</a:t>
                      </a: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主要职责</a:t>
                      </a: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8172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2018/07/29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328" marR="6328" marT="63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畅游天下用户产品部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实习生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参与活动平台重构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0989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2019/07/08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328" marR="6328" marT="63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畅游天下平台产品部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Java</a:t>
                      </a:r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开发</a:t>
                      </a:r>
                      <a:endParaRPr lang="en-US" altLang="zh-CN" sz="10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、日志组件设计实现、优化，</a:t>
                      </a:r>
                      <a:r>
                        <a:rPr lang="en-US" altLang="zh-CN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h5</a:t>
                      </a:r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平台维护，</a:t>
                      </a:r>
                      <a:r>
                        <a:rPr lang="en-US" altLang="zh-CN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、打包重构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81721">
                <a:tc gridSpan="2"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328" marR="6328" marT="63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281721">
                <a:tc gridSpan="2"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328" marR="6328" marT="632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28" marR="6328" marT="6328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1" name="直接连接符 10"/>
          <p:cNvCxnSpPr/>
          <p:nvPr/>
        </p:nvCxnSpPr>
        <p:spPr>
          <a:xfrm>
            <a:off x="467544" y="1275606"/>
            <a:ext cx="813690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409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16024" y="123478"/>
            <a:ext cx="55081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主要工作</a:t>
            </a:r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成果及承担的角色</a:t>
            </a:r>
            <a:endParaRPr lang="zh-CN" altLang="en-US" sz="2400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627534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206630" y="843558"/>
            <a:ext cx="8460432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请简要介绍过往</a:t>
            </a:r>
            <a:r>
              <a:rPr lang="zh-CN" altLang="zh-CN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年中在畅游的主要</a:t>
            </a:r>
            <a:r>
              <a:rPr lang="zh-CN" altLang="en-US" sz="1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工作成果和突出贡献</a:t>
            </a:r>
            <a:endParaRPr lang="en-US" altLang="zh-CN" sz="12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阐述自己在</a:t>
            </a:r>
            <a:r>
              <a:rPr lang="zh-CN" altLang="en-US" sz="12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岗位关键成果上的产出和贡献是什么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，工作成果以数据、现象等方式进行简要说明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工作成果：日志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组件稳定运行在平台产品的上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日志组件：日志组件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定义以及实现日志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规范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，提升</a:t>
            </a: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java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项目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的开发效率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降低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项目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的维护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成本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项目编码期：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减少日志代码编写，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提高代码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编写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效率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1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）采用</a:t>
            </a: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java-agent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，使其无侵入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2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  <a:hlinkClick r:id="rId3" action="ppaction://hlinkfile"/>
              </a:rPr>
              <a:t>通过配置文件，对公共代码日志收集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	</a:t>
            </a:r>
            <a:r>
              <a:rPr lang="zh-CN" altLang="en-US" sz="1200" dirty="0"/>
              <a:t> </a:t>
            </a:r>
            <a:r>
              <a:rPr lang="en-US" altLang="zh-CN" sz="1200" dirty="0" smtClean="0"/>
              <a:t>Ⅰ</a:t>
            </a:r>
            <a:r>
              <a:rPr lang="zh-CN" altLang="en-US" sz="1200" dirty="0"/>
              <a:t>、</a:t>
            </a:r>
            <a:r>
              <a:rPr lang="zh-CN" altLang="en-US" sz="1200" dirty="0" smtClean="0"/>
              <a:t>类上的注解（</a:t>
            </a:r>
            <a:r>
              <a:rPr lang="en-US" altLang="zh-CN" sz="1200" dirty="0"/>
              <a:t>@</a:t>
            </a:r>
            <a:r>
              <a:rPr lang="en-US" altLang="zh-CN" sz="1200" dirty="0" smtClean="0"/>
              <a:t>Controller</a:t>
            </a:r>
            <a:r>
              <a:rPr lang="zh-CN" altLang="en-US" sz="1200" dirty="0"/>
              <a:t>）</a:t>
            </a:r>
            <a:endParaRPr lang="en-US" altLang="zh-CN" sz="1200" dirty="0" smtClean="0"/>
          </a:p>
          <a:p>
            <a:pPr marL="457200" lvl="1" indent="0">
              <a:buNone/>
            </a:pP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	</a:t>
            </a:r>
            <a:r>
              <a:rPr lang="zh-CN" altLang="en-US" sz="1100" dirty="0"/>
              <a:t> </a:t>
            </a:r>
            <a:r>
              <a:rPr lang="en-US" altLang="zh-CN" sz="1100" dirty="0" smtClean="0"/>
              <a:t>Ⅱ</a:t>
            </a:r>
            <a:r>
              <a:rPr lang="zh-CN" altLang="en-US" sz="1100" dirty="0"/>
              <a:t>、</a:t>
            </a:r>
            <a:r>
              <a:rPr lang="zh-CN" altLang="en-US" sz="1100" dirty="0" smtClean="0"/>
              <a:t>方法上的注解（</a:t>
            </a:r>
            <a:r>
              <a:rPr lang="en-US" altLang="zh-CN" sz="1100" dirty="0" smtClean="0"/>
              <a:t>@</a:t>
            </a:r>
            <a:r>
              <a:rPr lang="en-US" altLang="zh-CN" sz="1100" dirty="0" err="1" smtClean="0"/>
              <a:t>RequestMapping</a:t>
            </a:r>
            <a:r>
              <a:rPr lang="zh-CN" altLang="en-US" sz="1100" dirty="0" smtClean="0"/>
              <a:t>）</a:t>
            </a:r>
            <a:endParaRPr lang="en-US" altLang="zh-CN" sz="1100" dirty="0" smtClean="0"/>
          </a:p>
          <a:p>
            <a:pPr marL="457200" lvl="1" indent="0">
              <a:buNone/>
            </a:pP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en-US" altLang="zh-CN" sz="11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	</a:t>
            </a:r>
            <a:r>
              <a:rPr lang="zh-CN" altLang="en-US" sz="1100" dirty="0"/>
              <a:t> </a:t>
            </a:r>
            <a:r>
              <a:rPr lang="en-US" altLang="zh-CN" sz="1100" dirty="0" smtClean="0"/>
              <a:t>Ⅲ</a:t>
            </a:r>
            <a:r>
              <a:rPr lang="zh-CN" altLang="en-US" sz="1100" dirty="0" smtClean="0"/>
              <a:t>、正则注解</a:t>
            </a:r>
            <a:endParaRPr lang="en-US" altLang="zh-CN" sz="1100" dirty="0" smtClean="0"/>
          </a:p>
          <a:p>
            <a:pPr marL="457200" lvl="1" indent="0">
              <a:buNone/>
            </a:pP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en-US" altLang="zh-CN" sz="11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3</a:t>
            </a:r>
            <a:r>
              <a:rPr lang="zh-CN" altLang="en-US" sz="11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sz="1100" dirty="0" smtClean="0">
                <a:latin typeface="楷体" panose="02010609060101010101" pitchFamily="49" charset="-122"/>
                <a:ea typeface="楷体" panose="02010609060101010101" pitchFamily="49" charset="-122"/>
                <a:hlinkClick r:id="rId4" action="ppaction://hlinkfile"/>
              </a:rPr>
              <a:t>模块化扩展</a:t>
            </a:r>
            <a:endParaRPr lang="en-US" altLang="zh-CN" sz="11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en-US" altLang="zh-CN" sz="11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	</a:t>
            </a:r>
            <a:r>
              <a:rPr lang="en-US" altLang="zh-CN" sz="1200" dirty="0"/>
              <a:t> </a:t>
            </a:r>
            <a:r>
              <a:rPr lang="en-US" altLang="zh-CN" sz="1200" dirty="0" smtClean="0"/>
              <a:t>Ⅰ</a:t>
            </a:r>
            <a:r>
              <a:rPr lang="zh-CN" altLang="en-US" sz="1200" dirty="0" smtClean="0"/>
              <a:t>、精确切入</a:t>
            </a:r>
            <a:endParaRPr lang="en-US" altLang="zh-CN" sz="1200" dirty="0" smtClean="0"/>
          </a:p>
          <a:p>
            <a:pPr marL="457200" lvl="1" indent="0">
              <a:buNone/>
            </a:pP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项目运行期：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减少异常排查时间，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hlinkClick r:id="rId5" action="ppaction://hlinkfile"/>
              </a:rPr>
              <a:t>提供异常报警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  <a:hlinkClick r:id="rId5" action="ppaction://hlinkfile"/>
              </a:rPr>
              <a:t>机制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1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  <a:hlinkClick r:id="rId6" action="ppaction://hlinkfile"/>
              </a:rPr>
              <a:t>结构化日志，提供不同日志维度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	2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  <a:hlinkClick r:id="rId7" action="ppaction://hlinkfile"/>
              </a:rPr>
              <a:t>报警等级划分，通过</a:t>
            </a: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  <a:hlinkClick r:id="rId7" action="ppaction://hlinkfile"/>
              </a:rPr>
              <a:t>elk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  <a:hlinkClick r:id="rId7" action="ppaction://hlinkfile"/>
              </a:rPr>
              <a:t>将报警推送他所需要关心的人</a:t>
            </a:r>
            <a:endParaRPr lang="en-US" altLang="zh-CN" sz="1400" i="1" dirty="0" smtClean="0">
              <a:solidFill>
                <a:schemeClr val="tx1">
                  <a:lumMod val="50000"/>
                  <a:lumOff val="5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0" indent="0">
              <a:buNone/>
            </a:pPr>
            <a:r>
              <a:rPr lang="zh-CN" altLang="en-US" sz="14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 </a:t>
            </a:r>
            <a:endParaRPr lang="zh-CN" altLang="zh-CN" sz="1200" i="1" dirty="0" smtClean="0">
              <a:solidFill>
                <a:schemeClr val="tx1">
                  <a:lumMod val="50000"/>
                  <a:lumOff val="5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8879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16024" y="123478"/>
            <a:ext cx="55081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主要工作</a:t>
            </a:r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成果及承担的角色</a:t>
            </a:r>
            <a:endParaRPr lang="zh-CN" altLang="en-US" sz="2400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627534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206630" y="843558"/>
            <a:ext cx="8460432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谈一谈你在成果及贡献产出过程中</a:t>
            </a:r>
            <a:r>
              <a:rPr lang="zh-CN" altLang="en-US" sz="1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承担什么样的角色</a:t>
            </a:r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lang="zh-CN" altLang="zh-CN" sz="12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举例说明你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上述成果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贡献中的角色承担，可描述</a:t>
            </a:r>
            <a:r>
              <a:rPr lang="zh-CN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过程中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遇到的</a:t>
            </a:r>
            <a:r>
              <a:rPr lang="zh-CN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挑战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zh-CN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如何克服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过程中你做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lang="zh-CN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哪些重要的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决定或行动</a:t>
            </a:r>
            <a:endParaRPr lang="en-US" altLang="zh-CN" sz="12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在上述成果中，我主要承担产品的规划、设计、实现、优化等完整的生命线。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S: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现有项目日志比较老旧，代码冗余程度高、日志丢失、日志打印混乱、排查问题耗费大量时间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升级项目日志，使其无侵入，组件化、规范日志打印，提供异常报警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A:1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熟悉现有日志系统找出优点缺点，</a:t>
            </a: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2)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调研大量开源日志框架找出优点缺点，</a:t>
            </a: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结合实际情况进行设计、实现、优化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lvl="1" indent="0">
              <a:buNone/>
            </a:pP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现有</a:t>
            </a:r>
            <a:r>
              <a:rPr lang="en-US" altLang="zh-CN" sz="1200" dirty="0" err="1">
                <a:latin typeface="楷体" panose="02010609060101010101" pitchFamily="49" charset="-122"/>
                <a:ea typeface="楷体" panose="02010609060101010101" pitchFamily="49" charset="-122"/>
              </a:rPr>
              <a:t>aop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日志：</a:t>
            </a:r>
            <a:endParaRPr lang="en-US" altLang="zh-CN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缺点：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hlinkClick r:id="rId3" action="ppaction://hlinkfile"/>
              </a:rPr>
              <a:t>代码冗余 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hlinkClick r:id="rId4" action="ppaction://hlinkfile"/>
              </a:rPr>
              <a:t>日志维度展不开 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）日志格式固定，无法扩展</a:t>
            </a:r>
            <a:endParaRPr lang="en-US" altLang="zh-CN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优点：定义了基本日志维度</a:t>
            </a:r>
            <a:endParaRPr lang="en-US" altLang="zh-CN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lvl="1" indent="0">
              <a:buNone/>
            </a:pP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日志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监控：</a:t>
            </a:r>
            <a:endParaRPr lang="en-US" altLang="zh-CN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en-US" altLang="zh-CN" sz="1200" dirty="0" err="1">
                <a:latin typeface="楷体" panose="02010609060101010101" pitchFamily="49" charset="-122"/>
                <a:ea typeface="楷体" panose="02010609060101010101" pitchFamily="49" charset="-122"/>
              </a:rPr>
              <a:t>npm-prometheus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：用于监控设施的基础信息，如网络、</a:t>
            </a:r>
            <a:r>
              <a:rPr lang="en-US" altLang="zh-CN" sz="1200" dirty="0" err="1">
                <a:latin typeface="楷体" panose="02010609060101010101" pitchFamily="49" charset="-122"/>
                <a:ea typeface="楷体" panose="02010609060101010101" pitchFamily="49" charset="-122"/>
              </a:rPr>
              <a:t>io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1200" dirty="0" err="1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等，一般运维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使用</a:t>
            </a:r>
            <a:endParaRPr lang="en-US" altLang="zh-CN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en-US" altLang="zh-CN" sz="1200" dirty="0" err="1">
                <a:latin typeface="楷体" panose="02010609060101010101" pitchFamily="49" charset="-122"/>
                <a:ea typeface="楷体" panose="02010609060101010101" pitchFamily="49" charset="-122"/>
              </a:rPr>
              <a:t>apm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-pinpoint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：用于监控应用的数据链路，日志数据大，且详细，一般运维使用</a:t>
            </a:r>
            <a:endParaRPr lang="en-US" altLang="zh-CN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	bpm-</a:t>
            </a: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无：用于监控重要业务，日志量少，且精确，一般开发人员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使用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zh-CN" altLang="en-US" sz="1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日志组件，提供规范日志、快速接入、代码无侵入，提高开发效率，减低项目维护成本</a:t>
            </a:r>
            <a:endParaRPr lang="en-US" altLang="zh-CN" sz="12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3103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16024" y="123478"/>
            <a:ext cx="55081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学习成长</a:t>
            </a:r>
            <a:r>
              <a:rPr lang="en-US" altLang="zh-CN" sz="2400" b="1" dirty="0" smtClean="0">
                <a:latin typeface="微软雅黑" pitchFamily="34" charset="-122"/>
                <a:ea typeface="微软雅黑" pitchFamily="34" charset="-122"/>
              </a:rPr>
              <a:t>&amp;</a:t>
            </a:r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工作</a:t>
            </a:r>
            <a:r>
              <a:rPr lang="zh-CN" altLang="en-US" sz="2400" b="1" smtClean="0">
                <a:latin typeface="微软雅黑" pitchFamily="34" charset="-122"/>
                <a:ea typeface="微软雅黑" pitchFamily="34" charset="-122"/>
              </a:rPr>
              <a:t>思考</a:t>
            </a:r>
            <a:endParaRPr lang="zh-CN" altLang="en-US" sz="2400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627534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216024" y="771550"/>
            <a:ext cx="82296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简述个人在工作中学习了什么样的新知识，进而总结了哪些方法论，如何进行实际应用</a:t>
            </a:r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学习新的技能：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java-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1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why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学习：在目标明确后，需要达到无入侵特点，而且该技术也有此使用先例，以及背景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how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学习：先通过其他的文档，对大概有一个了解，浅度的学习，再一次判断，是否偏离目标，然后再去看测试用例，深入学习</a:t>
            </a:r>
            <a:endParaRPr lang="en-US" altLang="zh-CN" sz="12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>
              <a:buNone/>
            </a:pP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3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、应用：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日志组件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jmx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管理组件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>
              <a:buNone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、学习总结：工作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中我们会遇到大量的问题，如何解决好问题，提高解决问题的效率，以下是我的一些思考。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1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明确目标：熟悉现有的环境，找到根本问题，然后明确自我目标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2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借鉴经验：借鉴前人的经验，找到优点和缺点，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扩大思路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3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实践目标：结合自我实际情况，对症下药，找出贴切的方法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4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总结复盘：优化成果，自我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>
              <a:buNone/>
            </a:pPr>
            <a:endParaRPr lang="en-US" altLang="zh-CN" sz="12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简述个人对部门</a:t>
            </a:r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工作</a:t>
            </a:r>
            <a:r>
              <a:rPr lang="en-US" altLang="zh-CN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业务的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思考，进而对部门</a:t>
            </a:r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工作</a:t>
            </a:r>
            <a:r>
              <a:rPr lang="en-US" altLang="zh-CN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业务的建议</a:t>
            </a:r>
          </a:p>
          <a:p>
            <a:pPr lvl="1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有哪些不合理或者待优化的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地方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代码没有复盘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经过完善思考，有何种优化建议？</a:t>
            </a:r>
            <a:endParaRPr lang="en-US" altLang="zh-CN" sz="1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en-US" altLang="zh-CN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编写占用时间比较少，可以两个人绑定代码编写，好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coreReview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，提高双方能力</a:t>
            </a:r>
            <a:r>
              <a:rPr lang="zh-CN" alt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，提高代码质量</a:t>
            </a:r>
            <a:endParaRPr lang="en-US" altLang="zh-CN" sz="1200" i="1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en-US" altLang="zh-CN" sz="1400" i="1" dirty="0" smtClean="0">
              <a:solidFill>
                <a:schemeClr val="tx1">
                  <a:lumMod val="50000"/>
                  <a:lumOff val="5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0" indent="0">
              <a:buNone/>
            </a:pPr>
            <a:endParaRPr lang="en-US" altLang="zh-CN" sz="1400" i="1" dirty="0" smtClean="0">
              <a:solidFill>
                <a:schemeClr val="tx1">
                  <a:lumMod val="50000"/>
                  <a:lumOff val="5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0" indent="0">
              <a:buNone/>
            </a:pPr>
            <a:endParaRPr lang="en-US" altLang="zh-CN" sz="1400" i="1" dirty="0" smtClean="0">
              <a:solidFill>
                <a:schemeClr val="tx1">
                  <a:lumMod val="50000"/>
                  <a:lumOff val="5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0" indent="0">
              <a:buNone/>
            </a:pPr>
            <a:endParaRPr lang="zh-CN" altLang="zh-CN" sz="1200" i="1" dirty="0" smtClean="0">
              <a:solidFill>
                <a:schemeClr val="tx1">
                  <a:lumMod val="50000"/>
                  <a:lumOff val="5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3268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0"/>
          <p:cNvSpPr>
            <a:spLocks noChangeArrowheads="1"/>
          </p:cNvSpPr>
          <p:nvPr/>
        </p:nvSpPr>
        <p:spPr bwMode="black">
          <a:xfrm>
            <a:off x="539552" y="840730"/>
            <a:ext cx="70567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Tx/>
              <a:buChar char="-"/>
            </a:pPr>
            <a:r>
              <a:rPr lang="zh-CN" altLang="en-US" sz="12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阅览本人所属专业类的胜任力要求</a:t>
            </a:r>
            <a:r>
              <a:rPr lang="zh-CN" altLang="en-US" sz="12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，对标其中</a:t>
            </a:r>
            <a:r>
              <a:rPr lang="zh-CN" altLang="en-US" sz="12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通用能力</a:t>
            </a:r>
            <a:r>
              <a:rPr lang="zh-CN" altLang="en-US" sz="12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各项要求进行举证（</a:t>
            </a:r>
            <a:r>
              <a:rPr lang="zh-CN" altLang="en-US" sz="12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行数不够可自行添加）</a:t>
            </a:r>
            <a:endParaRPr lang="en-US" altLang="zh-CN" sz="12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71450" indent="-171450">
              <a:buFontTx/>
              <a:buChar char="-"/>
            </a:pPr>
            <a:r>
              <a:rPr lang="zh-CN" altLang="en-US" sz="12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通过真实事例佐证能力，可以一对多，也可以多对一</a:t>
            </a:r>
            <a:endParaRPr lang="en-US" altLang="zh-CN" sz="12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16024" y="123478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胜任</a:t>
            </a:r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力自我评估</a:t>
            </a:r>
            <a:r>
              <a:rPr lang="en-US" altLang="zh-CN" sz="2400" b="1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通用能力</a:t>
            </a:r>
            <a:endParaRPr lang="zh-CN" altLang="en-US" sz="2400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0" y="627534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643454"/>
              </p:ext>
            </p:extLst>
          </p:nvPr>
        </p:nvGraphicFramePr>
        <p:xfrm>
          <a:off x="611560" y="1563638"/>
          <a:ext cx="8118902" cy="2808312"/>
        </p:xfrm>
        <a:graphic>
          <a:graphicData uri="http://schemas.openxmlformats.org/drawingml/2006/table">
            <a:tbl>
              <a:tblPr/>
              <a:tblGrid>
                <a:gridCol w="710915"/>
                <a:gridCol w="787512"/>
                <a:gridCol w="715819"/>
                <a:gridCol w="2640657"/>
                <a:gridCol w="3263999"/>
              </a:tblGrid>
              <a:tr h="60668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/>
                        </a:rPr>
                        <a:t>能力框架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/>
                        </a:rPr>
                        <a:t>能力项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微软雅黑"/>
                        </a:rPr>
                        <a:t>等级要求</a:t>
                      </a:r>
                      <a:endParaRPr lang="zh-CN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微软雅黑"/>
                        </a:rPr>
                        <a:t>能力要求</a:t>
                      </a:r>
                      <a:endParaRPr lang="zh-CN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微软雅黑"/>
                        </a:rPr>
                        <a:t>个人事例举证（符合</a:t>
                      </a:r>
                      <a:r>
                        <a:rPr lang="en-US" altLang="zh-CN" sz="10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微软雅黑"/>
                        </a:rPr>
                        <a:t>STAR</a:t>
                      </a:r>
                      <a:r>
                        <a:rPr lang="zh-CN" altLang="en-US" sz="10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微软雅黑"/>
                        </a:rPr>
                        <a:t>原则）</a:t>
                      </a:r>
                      <a:endParaRPr lang="zh-CN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733876"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通用能力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执行能力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2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领会意图，主动汇报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日志组件中数据存储问题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  <a:p>
                      <a:pPr algn="ctr" fontAlgn="ctr"/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发现不足，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  <a:hlinkClick r:id="rId3" action="ppaction://hlinkfile"/>
                        </a:rPr>
                        <a:t>主动沟通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，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  <a:hlinkClick r:id="rId4" action="ppaction://hlinkfile"/>
                        </a:rPr>
                        <a:t>改良设计方案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387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学习能力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1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指导下进行学习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  <a:hlinkClick r:id="rId5" action="ppaction://hlinkfile"/>
                        </a:rPr>
                        <a:t>Wiki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  <a:hlinkClick r:id="rId5" action="ppaction://hlinkfile"/>
                        </a:rPr>
                        <a:t>上数篇的字节码相关文档总结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3876">
                <a:tc vMerge="1">
                  <a:txBody>
                    <a:bodyPr/>
                    <a:lstStyle/>
                    <a:p>
                      <a:pPr algn="l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解决问题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1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协助解决当前难点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  <a:hlinkClick r:id="rId6" action="ppaction://hlinkfile"/>
                        </a:rPr>
                        <a:t>通过日志查询，协助排查偶发异常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593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0"/>
          <p:cNvSpPr>
            <a:spLocks noChangeArrowheads="1"/>
          </p:cNvSpPr>
          <p:nvPr/>
        </p:nvSpPr>
        <p:spPr bwMode="black">
          <a:xfrm>
            <a:off x="539552" y="840730"/>
            <a:ext cx="70567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Tx/>
              <a:buChar char="-"/>
            </a:pPr>
            <a:r>
              <a:rPr lang="zh-CN" altLang="en-US" sz="12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阅览本人所属专业类的胜任力要求</a:t>
            </a:r>
            <a:r>
              <a:rPr lang="zh-CN" altLang="en-US" sz="12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，对标其中</a:t>
            </a:r>
            <a:r>
              <a:rPr lang="zh-CN" altLang="en-US" sz="12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专业能力</a:t>
            </a:r>
            <a:r>
              <a:rPr lang="zh-CN" altLang="en-US" sz="12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各项要求进行举证，行数不够可自行添加</a:t>
            </a:r>
            <a:endParaRPr lang="en-US" altLang="zh-CN" sz="12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71450" indent="-171450">
              <a:buFontTx/>
              <a:buChar char="-"/>
            </a:pPr>
            <a:r>
              <a:rPr lang="zh-CN" altLang="en-US" sz="12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通过真实事例佐证能力，可以一对多，也可以多对一</a:t>
            </a:r>
            <a:endParaRPr lang="en-US" altLang="zh-CN" sz="12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16024" y="123478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胜任</a:t>
            </a:r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力自我评估</a:t>
            </a:r>
            <a:r>
              <a:rPr lang="en-US" altLang="zh-CN" sz="2400" b="1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专业能力</a:t>
            </a:r>
            <a:endParaRPr lang="zh-CN" altLang="en-US" sz="2400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0" y="627534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723006"/>
              </p:ext>
            </p:extLst>
          </p:nvPr>
        </p:nvGraphicFramePr>
        <p:xfrm>
          <a:off x="629562" y="1491630"/>
          <a:ext cx="8118902" cy="3024336"/>
        </p:xfrm>
        <a:graphic>
          <a:graphicData uri="http://schemas.openxmlformats.org/drawingml/2006/table">
            <a:tbl>
              <a:tblPr/>
              <a:tblGrid>
                <a:gridCol w="710915"/>
                <a:gridCol w="787512"/>
                <a:gridCol w="715819"/>
                <a:gridCol w="2640657"/>
                <a:gridCol w="3263999"/>
              </a:tblGrid>
              <a:tr h="871045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/>
                        </a:rPr>
                        <a:t>能力框架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/>
                        </a:rPr>
                        <a:t>能力项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微软雅黑"/>
                        </a:rPr>
                        <a:t>等级要求</a:t>
                      </a:r>
                      <a:endParaRPr lang="zh-CN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微软雅黑"/>
                        </a:rPr>
                        <a:t>能力要求</a:t>
                      </a:r>
                      <a:endParaRPr lang="zh-CN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微软雅黑"/>
                        </a:rPr>
                        <a:t>个人事例举证（符合</a:t>
                      </a:r>
                      <a:r>
                        <a:rPr lang="en-US" altLang="zh-CN" sz="10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微软雅黑"/>
                        </a:rPr>
                        <a:t>STAR</a:t>
                      </a:r>
                      <a:r>
                        <a:rPr lang="zh-CN" altLang="en-US" sz="10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微软雅黑"/>
                        </a:rPr>
                        <a:t>原则）</a:t>
                      </a:r>
                      <a:endParaRPr lang="zh-CN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871045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专业能力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编码能力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1</a:t>
                      </a:r>
                      <a:endParaRPr lang="zh-CN" altLang="en-US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按要求完成普通编码工作</a:t>
                      </a:r>
                    </a:p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日志组件、</a:t>
                      </a:r>
                      <a:r>
                        <a:rPr lang="en-US" altLang="zh-CN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jmx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组件的实现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224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方案选型以及架构设计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1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理解、掌握架构</a:t>
                      </a:r>
                    </a:p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日志组件、</a:t>
                      </a:r>
                      <a:r>
                        <a:rPr lang="en-US" altLang="zh-CN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jmx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组件、打包项目的方案设计、落实、优化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8548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0"/>
          <p:cNvSpPr>
            <a:spLocks noChangeArrowheads="1"/>
          </p:cNvSpPr>
          <p:nvPr/>
        </p:nvSpPr>
        <p:spPr bwMode="black">
          <a:xfrm>
            <a:off x="539552" y="840730"/>
            <a:ext cx="70567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Tx/>
              <a:buChar char="-"/>
            </a:pPr>
            <a:r>
              <a:rPr lang="zh-CN" altLang="en-US" sz="12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阅览本人所属专业类的胜任力要求</a:t>
            </a:r>
            <a:r>
              <a:rPr lang="zh-CN" altLang="en-US" sz="12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，对标其中</a:t>
            </a:r>
            <a:r>
              <a:rPr lang="zh-CN" altLang="en-US" sz="1200" b="1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组织影响力</a:t>
            </a:r>
            <a:r>
              <a:rPr lang="zh-CN" altLang="en-US" sz="12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各项要求进行举证，行数不够可自行添加</a:t>
            </a:r>
            <a:endParaRPr lang="en-US" altLang="zh-CN" sz="12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71450" indent="-171450">
              <a:buFontTx/>
              <a:buChar char="-"/>
            </a:pPr>
            <a:r>
              <a:rPr lang="zh-CN" altLang="en-US" sz="12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通过真实事例佐证能力，可以一对多，也可以多对一</a:t>
            </a:r>
            <a:endParaRPr lang="en-US" altLang="zh-CN" sz="1200" dirty="0" smtClean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16024" y="123478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胜任</a:t>
            </a:r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力自我评估</a:t>
            </a:r>
            <a:r>
              <a:rPr lang="en-US" altLang="zh-CN" sz="2400" b="1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2400" b="1" dirty="0" smtClean="0">
                <a:latin typeface="微软雅黑" pitchFamily="34" charset="-122"/>
                <a:ea typeface="微软雅黑" pitchFamily="34" charset="-122"/>
              </a:rPr>
              <a:t>组织影响力</a:t>
            </a:r>
            <a:endParaRPr lang="zh-CN" altLang="en-US" sz="2400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0" y="627534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599301"/>
              </p:ext>
            </p:extLst>
          </p:nvPr>
        </p:nvGraphicFramePr>
        <p:xfrm>
          <a:off x="629562" y="1491630"/>
          <a:ext cx="8118902" cy="1742090"/>
        </p:xfrm>
        <a:graphic>
          <a:graphicData uri="http://schemas.openxmlformats.org/drawingml/2006/table">
            <a:tbl>
              <a:tblPr/>
              <a:tblGrid>
                <a:gridCol w="710915"/>
                <a:gridCol w="787512"/>
                <a:gridCol w="715819"/>
                <a:gridCol w="2640657"/>
                <a:gridCol w="3263999"/>
              </a:tblGrid>
              <a:tr h="871045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/>
                        </a:rPr>
                        <a:t>能力框架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/>
                        </a:rPr>
                        <a:t>能力项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微软雅黑"/>
                        </a:rPr>
                        <a:t>等级要求</a:t>
                      </a:r>
                      <a:endParaRPr lang="zh-CN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微软雅黑"/>
                        </a:rPr>
                        <a:t>能力要求</a:t>
                      </a:r>
                      <a:endParaRPr lang="zh-CN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微软雅黑"/>
                        </a:rPr>
                        <a:t>个人事例举证（符合</a:t>
                      </a:r>
                      <a:r>
                        <a:rPr lang="en-US" altLang="zh-CN" sz="10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微软雅黑"/>
                        </a:rPr>
                        <a:t>STAR</a:t>
                      </a:r>
                      <a:r>
                        <a:rPr lang="zh-CN" altLang="en-US" sz="10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微软雅黑"/>
                        </a:rPr>
                        <a:t>原则）</a:t>
                      </a:r>
                      <a:endParaRPr lang="zh-CN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871045"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组织影响力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知识传承</a:t>
                      </a:r>
                      <a:endParaRPr lang="en-US" altLang="zh-CN" sz="1000" b="1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1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团队内分享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平时在</a:t>
                      </a: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wiki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上记录技术相关文档，涉及</a:t>
                      </a:r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java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字节码、产品设计、等</a:t>
                      </a:r>
                      <a:endParaRPr lang="en-US" altLang="zh-CN" sz="1100" b="0" i="0" u="none" strike="noStrike" dirty="0" smtClean="0">
                        <a:solidFill>
                          <a:srgbClr val="000000"/>
                        </a:solidFill>
                        <a:effectLst/>
                        <a:latin typeface="微软雅黑"/>
                      </a:endParaRPr>
                    </a:p>
                    <a:p>
                      <a:pPr algn="ctr" fontAlgn="ctr"/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做过一次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微软雅黑"/>
                          <a:hlinkClick r:id="rId3" action="ppaction://hlinkfile"/>
                        </a:rPr>
                        <a:t>技术分享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8548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16024" y="123478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b="1" dirty="0" smtClean="0">
                <a:latin typeface="微软雅黑" pitchFamily="34" charset="-122"/>
                <a:ea typeface="微软雅黑" pitchFamily="34" charset="-122"/>
              </a:rPr>
              <a:t>Q&amp;A</a:t>
            </a:r>
            <a:endParaRPr lang="zh-CN" altLang="en-US" sz="2400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627534"/>
            <a:ext cx="914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090569"/>
            <a:ext cx="3583285" cy="3137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977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79712" y="1916708"/>
            <a:ext cx="52565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THANKS!</a:t>
            </a:r>
            <a:endParaRPr lang="en-US" altLang="zh-CN" sz="54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4754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2128</TotalTime>
  <Words>768</Words>
  <Application>Microsoft Office PowerPoint</Application>
  <PresentationFormat>全屏显示(16:9)</PresentationFormat>
  <Paragraphs>207</Paragraphs>
  <Slides>11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黑体</vt:lpstr>
      <vt:lpstr>华文细黑</vt:lpstr>
      <vt:lpstr>楷体</vt:lpstr>
      <vt:lpstr>宋体</vt:lpstr>
      <vt:lpstr>微软雅黑</vt:lpstr>
      <vt:lpstr>Arial</vt:lpstr>
      <vt:lpstr>Calibri</vt:lpstr>
      <vt:lpstr>Office 主题​​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ChangYou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刘汉卿</dc:creator>
  <cp:lastModifiedBy>张益</cp:lastModifiedBy>
  <cp:revision>183</cp:revision>
  <dcterms:created xsi:type="dcterms:W3CDTF">2013-12-16T08:08:34Z</dcterms:created>
  <dcterms:modified xsi:type="dcterms:W3CDTF">2021-03-03T09:57:30Z</dcterms:modified>
</cp:coreProperties>
</file>